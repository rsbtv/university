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  <p:sldMasterId id="2147483703" r:id="rId2"/>
    <p:sldMasterId id="2147483683" r:id="rId3"/>
    <p:sldMasterId id="2147483693" r:id="rId4"/>
    <p:sldMasterId id="2147483713" r:id="rId5"/>
    <p:sldMasterId id="2147483661" r:id="rId6"/>
  </p:sldMasterIdLst>
  <p:sldIdLst>
    <p:sldId id="261" r:id="rId7"/>
    <p:sldId id="269" r:id="rId8"/>
    <p:sldId id="270" r:id="rId9"/>
    <p:sldId id="282" r:id="rId10"/>
    <p:sldId id="271" r:id="rId11"/>
    <p:sldId id="272" r:id="rId12"/>
    <p:sldId id="274" r:id="rId13"/>
    <p:sldId id="275" r:id="rId14"/>
    <p:sldId id="276" r:id="rId15"/>
    <p:sldId id="277" r:id="rId16"/>
    <p:sldId id="278" r:id="rId17"/>
    <p:sldId id="281" r:id="rId18"/>
    <p:sldId id="279" r:id="rId19"/>
    <p:sldId id="280" r:id="rId20"/>
    <p:sldId id="260" r:id="rId21"/>
  </p:sldIdLst>
  <p:sldSz cx="12192000" cy="6858000"/>
  <p:notesSz cx="6858000" cy="9144000"/>
  <p:embeddedFontLst>
    <p:embeddedFont>
      <p:font typeface="Montserrat" panose="00000500000000000000" pitchFamily="2" charset="-52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3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6597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71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43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20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56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3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98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11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93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85E8220-DF47-4A5D-9D2C-226F8E9E9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2EB4659-56F5-4EA6-9C66-512C729771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76470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22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49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21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68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850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5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643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918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8D8E887-6788-4EF2-8725-E4E97197F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2F3206E9-58DF-4D91-B0A9-8204642B0A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1067007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99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217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81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9636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02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809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740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374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2889451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2024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167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90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638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183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087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7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668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2CEF30B-FF05-407E-AC4B-2553FA8FD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9C63741-6A59-4713-9EC7-815CE5F0AF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5585449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951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851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4174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825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61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5377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2290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4702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9407E-41C3-40ED-85C3-4F4AC310C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80268"/>
            <a:ext cx="10515600" cy="1928812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D66044-C392-47A5-889F-A4F90FD2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pPr/>
              <a:t>07.05.2026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DF13AC-6E1E-4952-A845-6B362839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8ACDA3-E292-470D-9120-E50EBB6B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BC5BAF7-EFF7-4D86-8301-BE8F3D3FEB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2775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  <a:p>
            <a:r>
              <a:rPr lang="ru-RU" dirty="0"/>
              <a:t>ФИО, 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3993206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43B20-A1B6-44D1-BB04-ED9151FA2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DBDE35-63AF-45E9-A900-BE347A762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A94DD-8B09-4D71-93E2-2A47CF3B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A07F3-4BB8-4501-814B-44F9B046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016DFC-1749-45C5-B9D4-EA17887E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1086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09995-F579-456E-9316-E72DDF6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498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A40C2-C876-406E-BFFD-622BE096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7449"/>
            <a:ext cx="10515600" cy="3719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3C182D-709F-465B-AF27-901673136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B3355C-8CBD-4210-B1EA-603C9F8C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6D4A59-E6B6-48A2-8EB4-7CBE2368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0010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64A21-C27C-4ADD-A577-FF154C7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ED1E7C-2D37-47CE-80E1-0F8237FD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7402B-ED0D-4291-B668-D7160238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4190E-B3F9-48F3-9F69-1941830B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6C0A-5A34-4FA0-9319-F70C940B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89641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0D310-5D36-4853-BCB5-FD1EC259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636711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3021C-F208-4AB1-BF82-990D8B85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5049"/>
            <a:ext cx="5181600" cy="38719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12C175-73CC-4F77-B239-67A8FECAA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5049"/>
            <a:ext cx="5181600" cy="38719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D423AB-CE81-4B2E-B1EB-B51726D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F46B3-014B-4987-817B-D3BB37B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1B5573-3BC4-4F6F-8DD5-DC67802B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85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62CA-29AD-4D57-B70D-ABBCCA9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A7739-7DB6-4104-BDFD-31832362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1927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F51B7-EB51-48DF-8DC6-807CC8F2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71775"/>
            <a:ext cx="5157787" cy="34178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DDF78F-343B-4E14-AF75-80A3535BB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1927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A3F889-956B-49DE-BF1D-9F8DEA5B4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71773"/>
            <a:ext cx="5183188" cy="34178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789CED-9715-4CB9-86D5-578D712A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8B840A-4575-4FBB-B99E-F841CAD9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C305B0-1707-4F62-8C27-D3B0B37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296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09A60-460C-40FA-B5C9-6A229817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1F81B6-2B85-4183-836C-0C1B1F5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4AB5FF-5AA1-40B5-892B-B89DCB2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849EAC-04A8-48AD-90BC-0CAEA2A5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2499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D252C39-8A6D-4258-BBA2-6D0CA36F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D441C-D832-4524-BFC9-4A44D617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911043-9972-46A7-986A-1C298E48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4675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295E8-7139-486F-8D0F-61AC02F10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876300"/>
            <a:ext cx="38004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A5E32D-A062-4956-A04C-7425E382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1E72C4-E892-4E2E-874A-731F7DFC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1550" y="2656114"/>
            <a:ext cx="3800475" cy="32128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0E9D5-1DBB-45E3-AA9C-569CFF25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1C424-DA6F-427D-ACB7-998C704C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7858C-C53D-4387-8D02-42F291C6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1314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0C141-D51E-4DBE-9B14-F7DD5AA8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5" y="820057"/>
            <a:ext cx="38068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1B6D0E-55CE-457A-B67E-7336CA8FF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C5C836-812C-4ECD-9915-D7771C9F2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025" y="2552700"/>
            <a:ext cx="3810000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A34FE-CF97-4CF4-931E-CB11B8F6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72F0-34D4-4635-92C6-3A38628EF8C8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63187-5B4D-4B86-AC59-C9C891F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7FDA3-DE77-458E-8151-34420F88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E3E-6460-4EC4-8C5D-83C27D77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0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07.05.2026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8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07.05.2026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7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2DB472F0-34D4-4635-92C6-3A38628EF8C8}" type="datetimeFigureOut">
              <a:rPr lang="ru-RU" smtClean="0"/>
              <a:pPr/>
              <a:t>07.05.2026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5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07.05.2026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9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07.05.2026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F790FE3E-6460-4EC4-8C5D-83C27D7766B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3A7278-5F93-4C66-B83F-288284DCB0D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766"/>
            <a:ext cx="2501716" cy="70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4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1A7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E79D92-88A3-4669-9E63-839B8296D48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4" y="67758"/>
            <a:ext cx="2749647" cy="9165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F3E0E-1A2B-4C5A-89D9-F5BCF153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332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5348CB-3293-4D91-921C-7D5AEDED7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76501"/>
            <a:ext cx="105156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808D9-76BD-4533-AF64-87EB65D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2DB472F0-34D4-4635-92C6-3A38628EF8C8}" type="datetimeFigureOut">
              <a:rPr lang="ru-RU" smtClean="0"/>
              <a:pPr/>
              <a:t>07.05.2026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C71667-E85B-4588-8A68-9857B2E80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BE73A-2805-4759-A150-56F052335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0FE3E-6460-4EC4-8C5D-83C27D7766B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47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E105180-9459-4618-A9B5-823661CB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7058"/>
            <a:ext cx="10515600" cy="1928812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ВЫПУСКНАЯ КВАЛИФИКАЦИОННАЯ РАБОТА  </a:t>
            </a:r>
            <a:br>
              <a:rPr lang="ru-RU" dirty="0"/>
            </a:br>
            <a:r>
              <a:rPr lang="ru-RU" sz="2200" dirty="0"/>
              <a:t>на тему: «Разработка методики сегментации данных ДЗЗ на основе </a:t>
            </a:r>
            <a:r>
              <a:rPr lang="ru-RU" sz="2200" dirty="0" err="1"/>
              <a:t>свёрточной</a:t>
            </a:r>
            <a:r>
              <a:rPr lang="ru-RU" sz="2200" dirty="0"/>
              <a:t> нейросетевой архитектуры с глобальным рецептивным полем и неявным моделированием фильтров с исследованием методов самоконтролируемого обучения и оптимизации </a:t>
            </a:r>
            <a:r>
              <a:rPr lang="ru-RU" sz="2200" dirty="0" err="1"/>
              <a:t>инференса</a:t>
            </a:r>
            <a:r>
              <a:rPr lang="ru-RU" sz="2200" dirty="0"/>
              <a:t>»</a:t>
            </a:r>
            <a:endParaRPr lang="ru-RU" sz="4000" dirty="0"/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7C975E68-0A5B-4C40-8370-5A2ABEF71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7751"/>
            <a:ext cx="9144000" cy="246639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Научный руководитель: </a:t>
            </a:r>
          </a:p>
          <a:p>
            <a:r>
              <a:rPr lang="ru-RU" dirty="0"/>
              <a:t>преподаватель кафедры прикладной информатики</a:t>
            </a:r>
          </a:p>
          <a:p>
            <a:r>
              <a:rPr lang="ru-RU" dirty="0"/>
              <a:t>Стрельцов Александр Сергеевич</a:t>
            </a:r>
          </a:p>
          <a:p>
            <a:endParaRPr lang="ru-RU" dirty="0"/>
          </a:p>
          <a:p>
            <a:r>
              <a:rPr lang="ru-RU" dirty="0"/>
              <a:t>Выполнил студент 2025-ФГиИБ-ПИ-1м</a:t>
            </a:r>
          </a:p>
          <a:p>
            <a:r>
              <a:rPr lang="ru-RU" dirty="0"/>
              <a:t>Сабитов Рафаэль </a:t>
            </a:r>
            <a:r>
              <a:rPr lang="ru-RU" dirty="0" err="1"/>
              <a:t>Равилевич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F3BAF-0709-21D9-C7B6-9203C150535C}"/>
              </a:ext>
            </a:extLst>
          </p:cNvPr>
          <p:cNvSpPr txBox="1"/>
          <p:nvPr/>
        </p:nvSpPr>
        <p:spPr>
          <a:xfrm>
            <a:off x="2937752" y="63851"/>
            <a:ext cx="7850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МИНИСТЕРСТВО НАУКИ И ВЫСШЕГО ОБРАЗОВАНИЯ РОССИЙСКОЙ ФЕДЕРАЦИИ  </a:t>
            </a:r>
          </a:p>
          <a:p>
            <a:pPr algn="ctr"/>
            <a:r>
              <a:rPr lang="ru-RU" dirty="0"/>
              <a:t>МОСКОВСКИЙ ГОСУДАРСТВЕННЫЙ УНИВЕРСИТЕТ ГЕОДЕЗИИ И КАРТОГРАФИИ (МИИГАИК)  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Факультет геоинформатики и информационной безопасности </a:t>
            </a:r>
          </a:p>
          <a:p>
            <a:pPr algn="ctr"/>
            <a:r>
              <a:rPr lang="ru-RU" dirty="0"/>
              <a:t>Кафедра прикладной информатики</a:t>
            </a:r>
          </a:p>
        </p:txBody>
      </p:sp>
    </p:spTree>
    <p:extLst>
      <p:ext uri="{BB962C8B-B14F-4D97-AF65-F5344CB8AC3E}">
        <p14:creationId xmlns:p14="http://schemas.microsoft.com/office/powerpoint/2010/main" val="127073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AFCAA-1E64-1F5E-7D2B-FF3BB424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EBABE2-9A82-BA70-7BD0-58D1113EC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Актуальность работы обусловлена растущим объёмом данных дистанционного зондирования Земли и потребностью в автоматизированных инструментах для их семантической сегментации, позволяющих снизить трудозатраты при мониторинге территорий, анализе инфраструктуры и экологическом контроле.</a:t>
            </a:r>
          </a:p>
        </p:txBody>
      </p:sp>
    </p:spTree>
    <p:extLst>
      <p:ext uri="{BB962C8B-B14F-4D97-AF65-F5344CB8AC3E}">
        <p14:creationId xmlns:p14="http://schemas.microsoft.com/office/powerpoint/2010/main" val="185265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CE37FA-4A19-A585-9650-7A916DF63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194B6-CAA5-F1E7-7057-2C8884B2F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Цель: </a:t>
            </a:r>
          </a:p>
          <a:p>
            <a:pPr lvl="1"/>
            <a:r>
              <a:rPr lang="ru-RU" dirty="0"/>
              <a:t>Разработка информационной системы для семантической сегментации данных дистанционного зондирования Земли на основе архитектуры </a:t>
            </a:r>
            <a:r>
              <a:rPr lang="ru-RU" dirty="0" err="1"/>
              <a:t>HyenaPixel</a:t>
            </a:r>
            <a:r>
              <a:rPr lang="ru-RU" dirty="0"/>
              <a:t>.  </a:t>
            </a:r>
          </a:p>
          <a:p>
            <a:pPr lvl="1"/>
            <a:endParaRPr lang="ru-RU" dirty="0"/>
          </a:p>
          <a:p>
            <a:r>
              <a:rPr lang="ru-RU" dirty="0"/>
              <a:t>Задачи:      </a:t>
            </a:r>
          </a:p>
          <a:p>
            <a:pPr lvl="1"/>
            <a:r>
              <a:rPr lang="ru-RU" dirty="0"/>
              <a:t>Обзор имеющихся аналогов и подходов к сегментации ДЗЗ</a:t>
            </a:r>
          </a:p>
          <a:p>
            <a:pPr lvl="1"/>
            <a:r>
              <a:rPr lang="ru-RU" dirty="0"/>
              <a:t>Анализ архитектуры </a:t>
            </a:r>
            <a:r>
              <a:rPr lang="ru-RU" dirty="0" err="1"/>
              <a:t>HyenaPixel</a:t>
            </a:r>
            <a:r>
              <a:rPr lang="ru-RU" dirty="0"/>
              <a:t> и её применимости к задаче</a:t>
            </a:r>
          </a:p>
          <a:p>
            <a:pPr lvl="1"/>
            <a:r>
              <a:rPr lang="ru-RU" dirty="0"/>
              <a:t>Формулирование требований к информационной системе      </a:t>
            </a:r>
          </a:p>
          <a:p>
            <a:pPr lvl="1"/>
            <a:r>
              <a:rPr lang="ru-RU" dirty="0"/>
              <a:t>Разработка UML-моделей системы      </a:t>
            </a:r>
          </a:p>
          <a:p>
            <a:pPr lvl="1"/>
            <a:r>
              <a:rPr lang="ru-RU" dirty="0"/>
              <a:t>Проектирование базы данных      </a:t>
            </a:r>
          </a:p>
          <a:p>
            <a:pPr lvl="1"/>
            <a:r>
              <a:rPr lang="ru-RU" dirty="0"/>
              <a:t>Реализация основных модулей системы      </a:t>
            </a:r>
          </a:p>
          <a:p>
            <a:pPr lvl="1"/>
            <a:r>
              <a:rPr lang="ru-RU" dirty="0"/>
              <a:t>Составление технической документации </a:t>
            </a:r>
          </a:p>
        </p:txBody>
      </p:sp>
    </p:spTree>
    <p:extLst>
      <p:ext uri="{BB962C8B-B14F-4D97-AF65-F5344CB8AC3E}">
        <p14:creationId xmlns:p14="http://schemas.microsoft.com/office/powerpoint/2010/main" val="102823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CE37FA-4A19-A585-9650-7A916DF63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системе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194B6-CAA5-F1E7-7057-2C8884B2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457449"/>
            <a:ext cx="10922541" cy="431300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2000" b="1" dirty="0"/>
              <a:t>Функциональные требования:</a:t>
            </a:r>
            <a:endParaRPr lang="ru-RU" sz="2000" dirty="0"/>
          </a:p>
          <a:p>
            <a:pPr lvl="1">
              <a:lnSpc>
                <a:spcPct val="120000"/>
              </a:lnSpc>
            </a:pPr>
            <a:r>
              <a:rPr lang="ru-RU" sz="1800" dirty="0"/>
              <a:t>Загрузка и хранение сцен ДЗЗ (</a:t>
            </a:r>
            <a:r>
              <a:rPr lang="ru-RU" sz="1800" dirty="0" err="1"/>
              <a:t>GeoTIFF</a:t>
            </a:r>
            <a:r>
              <a:rPr lang="ru-RU" sz="1800" dirty="0"/>
              <a:t>, </a:t>
            </a:r>
            <a:r>
              <a:rPr lang="ru-RU" sz="1800" dirty="0" err="1"/>
              <a:t>shapefile</a:t>
            </a:r>
            <a:r>
              <a:rPr lang="ru-RU" sz="1800" dirty="0"/>
              <a:t>, </a:t>
            </a:r>
            <a:r>
              <a:rPr lang="ru-RU" sz="1800" dirty="0" err="1"/>
              <a:t>GeoPackage</a:t>
            </a:r>
            <a:r>
              <a:rPr lang="ru-RU" sz="1800" dirty="0"/>
              <a:t>)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Управление разметкой и классами сегментации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Формирование и разбиение обучающих датасетов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Запуск SSL-</a:t>
            </a:r>
            <a:r>
              <a:rPr lang="ru-RU" sz="1800" dirty="0" err="1"/>
              <a:t>предобучения</a:t>
            </a:r>
            <a:r>
              <a:rPr lang="ru-RU" sz="1800" dirty="0"/>
              <a:t> и контролируемого обучения </a:t>
            </a:r>
            <a:r>
              <a:rPr lang="ru-RU" sz="1800" dirty="0" err="1"/>
              <a:t>HyenaPixel</a:t>
            </a:r>
            <a:endParaRPr lang="ru-RU" sz="1800" dirty="0"/>
          </a:p>
          <a:p>
            <a:pPr lvl="1">
              <a:lnSpc>
                <a:spcPct val="120000"/>
              </a:lnSpc>
            </a:pPr>
            <a:r>
              <a:rPr lang="ru-RU" sz="1800" dirty="0"/>
              <a:t>Выполнение </a:t>
            </a:r>
            <a:r>
              <a:rPr lang="ru-RU" sz="1800" dirty="0" err="1"/>
              <a:t>инференса</a:t>
            </a:r>
            <a:r>
              <a:rPr lang="ru-RU" sz="1800" dirty="0"/>
              <a:t> на новых сценах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Хранение моделей, экспериментов, метрик и результатов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Ролевое разграничение: ML-инженер, аналитик ДЗЗ, администратор</a:t>
            </a:r>
          </a:p>
          <a:p>
            <a:pPr>
              <a:lnSpc>
                <a:spcPct val="120000"/>
              </a:lnSpc>
            </a:pPr>
            <a:r>
              <a:rPr lang="ru-RU" sz="2000" b="1" dirty="0"/>
              <a:t>Нефункциональные требования:</a:t>
            </a:r>
            <a:endParaRPr lang="ru-RU" sz="2000" dirty="0"/>
          </a:p>
          <a:p>
            <a:pPr lvl="1">
              <a:lnSpc>
                <a:spcPct val="120000"/>
              </a:lnSpc>
            </a:pPr>
            <a:r>
              <a:rPr lang="ru-RU" sz="1800" dirty="0"/>
              <a:t>Поддержка многоспектральных входов (≥3 каналов)</a:t>
            </a:r>
          </a:p>
          <a:p>
            <a:pPr lvl="1">
              <a:lnSpc>
                <a:spcPct val="120000"/>
              </a:lnSpc>
            </a:pPr>
            <a:r>
              <a:rPr lang="ru-RU" sz="1800" dirty="0"/>
              <a:t>Логирование метрик: </a:t>
            </a:r>
            <a:r>
              <a:rPr lang="ru-RU" sz="1800" dirty="0" err="1"/>
              <a:t>mIoU</a:t>
            </a:r>
            <a:r>
              <a:rPr lang="ru-RU" sz="1800" dirty="0"/>
              <a:t>, </a:t>
            </a:r>
            <a:r>
              <a:rPr lang="ru-RU" sz="1800" dirty="0" err="1"/>
              <a:t>mDice</a:t>
            </a:r>
            <a:r>
              <a:rPr lang="ru-RU" sz="1800" dirty="0"/>
              <a:t>, </a:t>
            </a:r>
            <a:r>
              <a:rPr lang="ru-RU" sz="1800" dirty="0" err="1"/>
              <a:t>mFscore</a:t>
            </a:r>
            <a:r>
              <a:rPr lang="ru-RU" sz="1800" dirty="0"/>
              <a:t>, </a:t>
            </a:r>
            <a:r>
              <a:rPr lang="ru-RU" sz="1800" dirty="0" err="1"/>
              <a:t>aAcc</a:t>
            </a:r>
            <a:r>
              <a:rPr lang="ru-RU" sz="1800" dirty="0"/>
              <a:t>, </a:t>
            </a:r>
            <a:r>
              <a:rPr lang="ru-RU" sz="1800" dirty="0" err="1"/>
              <a:t>mAcc</a:t>
            </a:r>
            <a:endParaRPr lang="ru-RU" sz="1800" dirty="0"/>
          </a:p>
          <a:p>
            <a:pPr lvl="1">
              <a:lnSpc>
                <a:spcPct val="120000"/>
              </a:lnSpc>
            </a:pPr>
            <a:r>
              <a:rPr lang="ru-RU" sz="1800" dirty="0"/>
              <a:t>Масштабируемость и расширяемость архитектуры</a:t>
            </a:r>
          </a:p>
        </p:txBody>
      </p:sp>
    </p:spTree>
    <p:extLst>
      <p:ext uri="{BB962C8B-B14F-4D97-AF65-F5344CB8AC3E}">
        <p14:creationId xmlns:p14="http://schemas.microsoft.com/office/powerpoint/2010/main" val="333126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3E9FC7B-7801-638C-98CC-AB4D503B1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944" y="466115"/>
            <a:ext cx="10515600" cy="1325563"/>
          </a:xfrm>
        </p:spPr>
        <p:txBody>
          <a:bodyPr/>
          <a:lstStyle/>
          <a:p>
            <a:r>
              <a:rPr lang="ru-RU" dirty="0"/>
              <a:t>Сравнение аналогов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257108F-9E58-75B5-B9F7-EFFE64D66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273994"/>
              </p:ext>
            </p:extLst>
          </p:nvPr>
        </p:nvGraphicFramePr>
        <p:xfrm>
          <a:off x="838200" y="1499848"/>
          <a:ext cx="10903088" cy="502108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725772">
                  <a:extLst>
                    <a:ext uri="{9D8B030D-6E8A-4147-A177-3AD203B41FA5}">
                      <a16:colId xmlns:a16="http://schemas.microsoft.com/office/drawing/2014/main" val="398666502"/>
                    </a:ext>
                  </a:extLst>
                </a:gridCol>
                <a:gridCol w="2725772">
                  <a:extLst>
                    <a:ext uri="{9D8B030D-6E8A-4147-A177-3AD203B41FA5}">
                      <a16:colId xmlns:a16="http://schemas.microsoft.com/office/drawing/2014/main" val="2358540182"/>
                    </a:ext>
                  </a:extLst>
                </a:gridCol>
                <a:gridCol w="2725772">
                  <a:extLst>
                    <a:ext uri="{9D8B030D-6E8A-4147-A177-3AD203B41FA5}">
                      <a16:colId xmlns:a16="http://schemas.microsoft.com/office/drawing/2014/main" val="4213595998"/>
                    </a:ext>
                  </a:extLst>
                </a:gridCol>
                <a:gridCol w="2725772">
                  <a:extLst>
                    <a:ext uri="{9D8B030D-6E8A-4147-A177-3AD203B41FA5}">
                      <a16:colId xmlns:a16="http://schemas.microsoft.com/office/drawing/2014/main" val="2379006974"/>
                    </a:ext>
                  </a:extLst>
                </a:gridCol>
              </a:tblGrid>
              <a:tr h="172814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effectLst/>
                        </a:rPr>
                        <a:t>Критерий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HyenaPixel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Mamba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effectLst/>
                        </a:rPr>
                        <a:t>UNet</a:t>
                      </a:r>
                      <a:r>
                        <a:rPr lang="en-US" sz="1200" b="1" dirty="0">
                          <a:effectLst/>
                        </a:rPr>
                        <a:t>++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2435155174"/>
                  </a:ext>
                </a:extLst>
              </a:tr>
              <a:tr h="344971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Тип модели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2D‑архитектура на базе Hyena в каркасе MetaFormer для обработки изображений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Селективная модель в пространстве состояний (SSM) для последовательностей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U‑образная сеть с вложенными пропусками (nested skip connections)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018574323"/>
                  </a:ext>
                </a:extLst>
              </a:tr>
              <a:tr h="462266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Основной домен применения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Компьютерное зрение: детекция, семантическая и объектная сегментация сцен высокого разрешения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Язык, аудио, геномика, длинные временные и пространственно‑временные последовательности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Медицинская и городская семантическая сегментация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4197310762"/>
                  </a:ext>
                </a:extLst>
              </a:tr>
              <a:tr h="31754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Семантическая сегментация 2D сцен (планы, ортофото)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++ — прямой, типичный сценарий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 — через развёртку 2D→1D и адаптацию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++ — прямой, типичный сценарий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319849108"/>
                  </a:ext>
                </a:extLst>
              </a:tr>
              <a:tr h="31754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Instance/</a:t>
                      </a:r>
                      <a:r>
                        <a:rPr lang="ru-RU" sz="1200">
                          <a:effectLst/>
                        </a:rPr>
                        <a:t>паноптическая сегментация объектов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++ — через детектор и соответствующую голову сегментации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 — возможна, но не целевой сценарий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++ — активно используется для сегментации объектов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2787572248"/>
                  </a:ext>
                </a:extLst>
              </a:tr>
              <a:tr h="462266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Работа с очень высоким разрешением (4K+ ортофото)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++ — </a:t>
                      </a:r>
                      <a:r>
                        <a:rPr lang="ru-RU" sz="1200" dirty="0" err="1">
                          <a:effectLst/>
                        </a:rPr>
                        <a:t>субквадратичная</a:t>
                      </a:r>
                      <a:r>
                        <a:rPr lang="ru-RU" sz="1200" dirty="0">
                          <a:effectLst/>
                        </a:rPr>
                        <a:t> сложность и очень большое эффективное рецептивное поле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 — линейная сложность по длине последовательности, но память зависит от способа развёртки 2D→1D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 — ограничения, типичные для классического U‑Net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598619515"/>
                  </a:ext>
                </a:extLst>
              </a:tr>
              <a:tr h="31754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Учёт глобального контекста сцены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++ — свёртки очень большого размера дают видимость всего кадра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++ — длинный контекст по последовательности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+ — ограничен глубиной сети и размером рецептивного поля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885112968"/>
                  </a:ext>
                </a:extLst>
              </a:tr>
              <a:tr h="699741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Ключевые сильные стороны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Глобальный контекст при </a:t>
                      </a:r>
                      <a:r>
                        <a:rPr lang="ru-RU" sz="1200" dirty="0" err="1">
                          <a:effectLst/>
                        </a:rPr>
                        <a:t>субквадратичной</a:t>
                      </a:r>
                      <a:r>
                        <a:rPr lang="ru-RU" sz="1200" dirty="0">
                          <a:effectLst/>
                        </a:rPr>
                        <a:t> сложности, масштабируемость на данных высокого разрешения, точность на стандартных датасетах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Универсальность для длинных последовательностей и пространственно‑временных задач, особенно для учёта истории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Надёжная и понятная опорная архитектура 2D‑сегментации, богатый опыт применения и примеры реализации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406243569"/>
                  </a:ext>
                </a:extLst>
              </a:tr>
              <a:tr h="462266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Основные ограничения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Требует собственной реализации и интеграции, архитектура сравнительно новая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Нужна существенная инженерная работа для адаптации к 2D‑изображениям</a:t>
                      </a:r>
                    </a:p>
                  </a:txBody>
                  <a:tcPr marL="14789" marR="14789" marT="14789" marB="1478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Ограничения по масштабируемости на сверхвысоких разрешениях и по дальнему контексту</a:t>
                      </a:r>
                    </a:p>
                  </a:txBody>
                  <a:tcPr marL="14789" marR="14789" marT="14789" marB="14789" anchor="ctr"/>
                </a:tc>
                <a:extLst>
                  <a:ext uri="{0D108BD9-81ED-4DB2-BD59-A6C34878D82A}">
                    <a16:rowId xmlns:a16="http://schemas.microsoft.com/office/drawing/2014/main" val="1787105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12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F08E75E-A54A-EF19-6D12-B92BBB98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F7D928A4-FF4C-352C-E603-3774EC69E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098846"/>
              </p:ext>
            </p:extLst>
          </p:nvPr>
        </p:nvGraphicFramePr>
        <p:xfrm>
          <a:off x="838200" y="2042160"/>
          <a:ext cx="10515600" cy="2773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365737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34885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endParaRPr lang="ru-RU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Инструмент</a:t>
                      </a:r>
                      <a:endParaRPr lang="ru-RU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03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Модель сегментации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HyenaPixel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358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Самоконтролируемое предобучение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SSL (Masked Reconstruction)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60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СУБД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PostgreSQL / SQLite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0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Хранилище сцен и моделей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S3-</a:t>
                      </a:r>
                      <a:r>
                        <a:rPr lang="ru-RU">
                          <a:effectLst/>
                        </a:rPr>
                        <a:t>совместимое объектное хранилище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06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Backend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Python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113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Язык программирования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Python (</a:t>
                      </a:r>
                      <a:r>
                        <a:rPr lang="en-US" dirty="0" err="1">
                          <a:effectLst/>
                        </a:rPr>
                        <a:t>PyTorch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0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28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3B26532-B2AF-5613-FE85-FDA1634A2A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687" y="2052536"/>
            <a:ext cx="4432626" cy="480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48F1974-B4D3-8428-BB92-73F541F8F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3254"/>
            <a:ext cx="12192000" cy="509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964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848"/>
            <a:ext cx="10515600" cy="1325563"/>
          </a:xfrm>
        </p:spPr>
        <p:txBody>
          <a:bodyPr/>
          <a:lstStyle/>
          <a:p>
            <a:r>
              <a:rPr lang="ru-RU" dirty="0"/>
              <a:t>Структура базы данных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CD0CE43-0A13-C134-0B76-F124044C9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350" y="1488409"/>
            <a:ext cx="6657299" cy="536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502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9535"/>
            <a:ext cx="10515600" cy="1325563"/>
          </a:xfrm>
        </p:spPr>
        <p:txBody>
          <a:bodyPr/>
          <a:lstStyle/>
          <a:p>
            <a:r>
              <a:rPr lang="ru-RU" b="1" dirty="0"/>
              <a:t>Сценарии использования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C3AAE3C-BEF4-D8B8-D9F0-EAB939B5E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5" y="2425086"/>
            <a:ext cx="7042380" cy="44329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CFDB4589-18AB-9F7E-5A15-59CA02C51B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167" y="1410511"/>
            <a:ext cx="5113838" cy="54474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54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309"/>
            <a:ext cx="10515600" cy="1325563"/>
          </a:xfrm>
        </p:spPr>
        <p:txBody>
          <a:bodyPr/>
          <a:lstStyle/>
          <a:p>
            <a:r>
              <a:rPr lang="ru-RU" b="1" dirty="0"/>
              <a:t>Пример работы системы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D95616A-056B-95B0-22A1-0AAB32D883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972" y="1489403"/>
            <a:ext cx="9482055" cy="509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911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309"/>
            <a:ext cx="10515600" cy="1325563"/>
          </a:xfrm>
        </p:spPr>
        <p:txBody>
          <a:bodyPr/>
          <a:lstStyle/>
          <a:p>
            <a:r>
              <a:rPr lang="ru-RU" b="1" dirty="0"/>
              <a:t>Результаты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92E3F88-A8AD-7A78-95ED-E1ECAE8B0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364127"/>
              </p:ext>
            </p:extLst>
          </p:nvPr>
        </p:nvGraphicFramePr>
        <p:xfrm>
          <a:off x="6096000" y="1601947"/>
          <a:ext cx="6003588" cy="3654105"/>
        </p:xfrm>
        <a:graphic>
          <a:graphicData uri="http://schemas.openxmlformats.org/drawingml/2006/table">
            <a:tbl>
              <a:tblPr/>
              <a:tblGrid>
                <a:gridCol w="1500897">
                  <a:extLst>
                    <a:ext uri="{9D8B030D-6E8A-4147-A177-3AD203B41FA5}">
                      <a16:colId xmlns:a16="http://schemas.microsoft.com/office/drawing/2014/main" val="386026062"/>
                    </a:ext>
                  </a:extLst>
                </a:gridCol>
                <a:gridCol w="1500897">
                  <a:extLst>
                    <a:ext uri="{9D8B030D-6E8A-4147-A177-3AD203B41FA5}">
                      <a16:colId xmlns:a16="http://schemas.microsoft.com/office/drawing/2014/main" val="2876391198"/>
                    </a:ext>
                  </a:extLst>
                </a:gridCol>
                <a:gridCol w="1500897">
                  <a:extLst>
                    <a:ext uri="{9D8B030D-6E8A-4147-A177-3AD203B41FA5}">
                      <a16:colId xmlns:a16="http://schemas.microsoft.com/office/drawing/2014/main" val="3029948260"/>
                    </a:ext>
                  </a:extLst>
                </a:gridCol>
                <a:gridCol w="1500897">
                  <a:extLst>
                    <a:ext uri="{9D8B030D-6E8A-4147-A177-3AD203B41FA5}">
                      <a16:colId xmlns:a16="http://schemas.microsoft.com/office/drawing/2014/main" val="1283414089"/>
                    </a:ext>
                  </a:extLst>
                </a:gridCol>
              </a:tblGrid>
              <a:tr h="730821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Метрика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effectLst/>
                        </a:rPr>
                        <a:t>HyenaPixel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Mamba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UNet+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090071"/>
                  </a:ext>
                </a:extLst>
              </a:tr>
              <a:tr h="73082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mIoU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наилучший</a:t>
                      </a:r>
                      <a:endParaRPr lang="ru-RU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средний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базовый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827633"/>
                  </a:ext>
                </a:extLst>
              </a:tr>
              <a:tr h="73082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mDice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высокий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высокий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базовый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421751"/>
                  </a:ext>
                </a:extLst>
              </a:tr>
              <a:tr h="73082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aAcc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высокая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средняя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средняя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891066"/>
                  </a:ext>
                </a:extLst>
              </a:tr>
              <a:tr h="73082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mFscore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высокий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высокий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базовый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40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4FBE77A-A7CD-5796-9AE0-6458B246C182}"/>
              </a:ext>
            </a:extLst>
          </p:cNvPr>
          <p:cNvSpPr txBox="1"/>
          <p:nvPr/>
        </p:nvSpPr>
        <p:spPr>
          <a:xfrm>
            <a:off x="126460" y="1601947"/>
            <a:ext cx="59695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Технологический стек: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Фреймворк: </a:t>
            </a:r>
            <a:r>
              <a:rPr lang="en-US" dirty="0" err="1"/>
              <a:t>MMSegmentation</a:t>
            </a:r>
            <a:r>
              <a:rPr lang="en-US" dirty="0"/>
              <a:t> (</a:t>
            </a:r>
            <a:r>
              <a:rPr lang="en-US" dirty="0" err="1"/>
              <a:t>OpenMMLab</a:t>
            </a:r>
            <a:r>
              <a:rPr lang="en-US" dirty="0"/>
              <a:t>) + </a:t>
            </a:r>
            <a:r>
              <a:rPr lang="en-US" dirty="0" err="1"/>
              <a:t>PyTorch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Модель: </a:t>
            </a:r>
            <a:r>
              <a:rPr lang="en-US" dirty="0" err="1"/>
              <a:t>HyenaPixel</a:t>
            </a:r>
            <a:r>
              <a:rPr lang="en-US" dirty="0"/>
              <a:t> (</a:t>
            </a:r>
            <a:r>
              <a:rPr lang="en-US" dirty="0" err="1"/>
              <a:t>MetaFormer</a:t>
            </a:r>
            <a:r>
              <a:rPr lang="en-US" dirty="0"/>
              <a:t> + Hyena operator, ImageNet pretrained)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Данные: </a:t>
            </a:r>
            <a:r>
              <a:rPr lang="en-US" dirty="0"/>
              <a:t>Sentinel-2, </a:t>
            </a:r>
            <a:r>
              <a:rPr lang="en-US" dirty="0" err="1"/>
              <a:t>GeoTIFF</a:t>
            </a:r>
            <a:r>
              <a:rPr lang="en-US" dirty="0"/>
              <a:t>, </a:t>
            </a:r>
            <a:r>
              <a:rPr lang="ru-RU" dirty="0" err="1"/>
              <a:t>тайлы</a:t>
            </a:r>
            <a:r>
              <a:rPr lang="ru-RU" dirty="0"/>
              <a:t> 256×256 / 512×512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Метрики: </a:t>
            </a:r>
            <a:r>
              <a:rPr lang="en-US" dirty="0" err="1"/>
              <a:t>aAcc</a:t>
            </a:r>
            <a:r>
              <a:rPr lang="en-US" dirty="0"/>
              <a:t>, </a:t>
            </a:r>
            <a:r>
              <a:rPr lang="en-US" dirty="0" err="1"/>
              <a:t>mAcc</a:t>
            </a:r>
            <a:r>
              <a:rPr lang="en-US" dirty="0"/>
              <a:t>, </a:t>
            </a:r>
            <a:r>
              <a:rPr lang="en-US" dirty="0" err="1"/>
              <a:t>mIoU</a:t>
            </a:r>
            <a:r>
              <a:rPr lang="en-US" dirty="0"/>
              <a:t>, </a:t>
            </a:r>
            <a:r>
              <a:rPr lang="en-US" dirty="0" err="1"/>
              <a:t>mDice</a:t>
            </a:r>
            <a:r>
              <a:rPr lang="en-US" dirty="0"/>
              <a:t>, </a:t>
            </a:r>
            <a:r>
              <a:rPr lang="en-US" dirty="0" err="1"/>
              <a:t>mFscore</a:t>
            </a:r>
            <a:r>
              <a:rPr lang="en-US" dirty="0"/>
              <a:t>, </a:t>
            </a:r>
            <a:r>
              <a:rPr lang="en-US" dirty="0" err="1"/>
              <a:t>mPrecision</a:t>
            </a:r>
            <a:r>
              <a:rPr lang="en-US" dirty="0"/>
              <a:t>, </a:t>
            </a:r>
            <a:r>
              <a:rPr lang="en-US" dirty="0" err="1"/>
              <a:t>mRecall</a:t>
            </a:r>
            <a:endParaRPr lang="en-US" dirty="0"/>
          </a:p>
          <a:p>
            <a:r>
              <a:rPr lang="ru-RU" b="1" dirty="0"/>
              <a:t>Реализованные сценарии: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Загрузка и предобработка сцен ДЗЗ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Формирование датасета с разбиением </a:t>
            </a:r>
            <a:r>
              <a:rPr lang="en-US" dirty="0"/>
              <a:t>train/</a:t>
            </a:r>
            <a:r>
              <a:rPr lang="en-US" dirty="0" err="1"/>
              <a:t>val</a:t>
            </a:r>
            <a:r>
              <a:rPr lang="en-US" dirty="0"/>
              <a:t>/test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Обучение </a:t>
            </a:r>
            <a:r>
              <a:rPr lang="en-US" dirty="0" err="1"/>
              <a:t>HyenaPixel</a:t>
            </a:r>
            <a:r>
              <a:rPr lang="en-US" dirty="0"/>
              <a:t> </a:t>
            </a:r>
            <a:r>
              <a:rPr lang="ru-RU" dirty="0"/>
              <a:t>через </a:t>
            </a:r>
            <a:r>
              <a:rPr lang="en-US" dirty="0" err="1"/>
              <a:t>MMSegmentation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Инференс</a:t>
            </a:r>
            <a:r>
              <a:rPr lang="ru-RU" dirty="0"/>
              <a:t> на новых сценах с </a:t>
            </a:r>
            <a:r>
              <a:rPr lang="ru-RU" dirty="0" err="1"/>
              <a:t>тайловой</a:t>
            </a:r>
            <a:r>
              <a:rPr lang="ru-RU" dirty="0"/>
              <a:t> нарезкой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Сбор и хранение метрик по эпохам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572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Перспективы развития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DA4C94-DD33-B287-F484-8D383AE45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43122"/>
            <a:ext cx="9879756" cy="4548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Поддержка дополнительных источников данных (Sentinel,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Landsat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Расширение набора классов сегментации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Интеграция метрик точности в режиме реального времени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Разработка веб-интерфейса для аналитиков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Возможность пакетного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инференса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по расписанию</a:t>
            </a:r>
          </a:p>
        </p:txBody>
      </p:sp>
    </p:spTree>
    <p:extLst>
      <p:ext uri="{BB962C8B-B14F-4D97-AF65-F5344CB8AC3E}">
        <p14:creationId xmlns:p14="http://schemas.microsoft.com/office/powerpoint/2010/main" val="1827402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53B6-3FE8-4B08-A5FD-6A1522F1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DA4C94-DD33-B287-F484-8D383AE459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45774"/>
            <a:ext cx="10864174" cy="4362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u-RU" sz="2400" dirty="0"/>
              <a:t>В ходе работы были решены следующие задачи: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Проведён обзор аналогов и подходов к сегментации ДЗЗ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Проанализирована архитектура </a:t>
            </a:r>
            <a:r>
              <a:rPr lang="ru-RU" dirty="0" err="1"/>
              <a:t>HyenaPixel</a:t>
            </a:r>
            <a:endParaRPr lang="ru-RU" dirty="0"/>
          </a:p>
          <a:p>
            <a:pPr lvl="1" algn="just">
              <a:lnSpc>
                <a:spcPct val="100000"/>
              </a:lnSpc>
            </a:pPr>
            <a:r>
              <a:rPr lang="ru-RU" dirty="0"/>
              <a:t>Сформулированы требования к информационной системе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Разработаны UML-модели системы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Спроектирована структура базы данных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Реализованы основные модули системы</a:t>
            </a:r>
          </a:p>
          <a:p>
            <a:pPr lvl="1" algn="just">
              <a:lnSpc>
                <a:spcPct val="100000"/>
              </a:lnSpc>
            </a:pPr>
            <a:r>
              <a:rPr lang="ru-RU" dirty="0"/>
              <a:t>Составлена техническая документация</a:t>
            </a:r>
          </a:p>
          <a:p>
            <a:pPr algn="just">
              <a:lnSpc>
                <a:spcPct val="100000"/>
              </a:lnSpc>
            </a:pPr>
            <a:r>
              <a:rPr lang="ru-RU" sz="2400" dirty="0"/>
              <a:t>В результате выполнения всех поставленных задач цель работы была достигнута.</a:t>
            </a:r>
          </a:p>
        </p:txBody>
      </p:sp>
    </p:spTree>
    <p:extLst>
      <p:ext uri="{BB962C8B-B14F-4D97-AF65-F5344CB8AC3E}">
        <p14:creationId xmlns:p14="http://schemas.microsoft.com/office/powerpoint/2010/main" val="177240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F5885B3-B3DE-4564-BDC7-0F959A3F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05806438"/>
      </p:ext>
    </p:extLst>
  </p:cSld>
  <p:clrMapOvr>
    <a:masterClrMapping/>
  </p:clrMapOvr>
</p:sld>
</file>

<file path=ppt/theme/theme1.xml><?xml version="1.0" encoding="utf-8"?>
<a:theme xmlns:a="http://schemas.openxmlformats.org/drawingml/2006/main" name="Горы днём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2.xml><?xml version="1.0" encoding="utf-8"?>
<a:theme xmlns:a="http://schemas.openxmlformats.org/drawingml/2006/main" name="Горы резко обрываются равниной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2737C4F3-30A7-462B-BAAF-6A4475D30B5A}"/>
    </a:ext>
  </a:extLst>
</a:theme>
</file>

<file path=ppt/theme/theme3.xml><?xml version="1.0" encoding="utf-8"?>
<a:theme xmlns:a="http://schemas.openxmlformats.org/drawingml/2006/main" name="Лазерная гравировка по стали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EB60DE6F-028E-4872-82DB-DADC663CBDD8}"/>
    </a:ext>
  </a:extLst>
</a:theme>
</file>

<file path=ppt/theme/theme4.xml><?xml version="1.0" encoding="utf-8"?>
<a:theme xmlns:a="http://schemas.openxmlformats.org/drawingml/2006/main" name="Горы плавно переходят в равнину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5.xml><?xml version="1.0" encoding="utf-8"?>
<a:theme xmlns:a="http://schemas.openxmlformats.org/drawingml/2006/main" name="Формул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844F752C-EEAC-4CC9-94F9-406FC0799D5E}"/>
    </a:ext>
  </a:extLst>
</a:theme>
</file>

<file path=ppt/theme/theme6.xml><?xml version="1.0" encoding="utf-8"?>
<a:theme xmlns:a="http://schemas.openxmlformats.org/drawingml/2006/main" name="Горы ночью">
  <a:themeElements>
    <a:clrScheme name="Ночной МИИГАиК">
      <a:dk1>
        <a:srgbClr val="FFFFFF"/>
      </a:dk1>
      <a:lt1>
        <a:sysClr val="window" lastClr="FFFFFF"/>
      </a:lt1>
      <a:dk2>
        <a:srgbClr val="FFFFFF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(у меня нет Montserrat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МИИГАиК 170425 Правильный.ppt [Режим совместимости]" id="{A415490B-F827-443F-A936-2E3308693CAF}" vid="{C38CD02F-1156-4645-B207-AB6B5FD4AB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770</Words>
  <Application>Microsoft Office PowerPoint</Application>
  <PresentationFormat>Широкоэкранный</PresentationFormat>
  <Paragraphs>144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Montserrat</vt:lpstr>
      <vt:lpstr>Горы днём</vt:lpstr>
      <vt:lpstr>Горы резко обрываются равниной</vt:lpstr>
      <vt:lpstr>Лазерная гравировка по стали</vt:lpstr>
      <vt:lpstr>Горы плавно переходят в равнину</vt:lpstr>
      <vt:lpstr>Формула</vt:lpstr>
      <vt:lpstr>Горы ночью</vt:lpstr>
      <vt:lpstr>ВЫПУСКНАЯ КВАЛИФИКАЦИОННАЯ РАБОТА   на тему: «Разработка методики сегментации данных ДЗЗ на основе свёрточной нейросетевой архитектуры с глобальным рецептивным полем и неявным моделированием фильтров с исследованием методов самоконтролируемого обучения и оптимизации инференса»</vt:lpstr>
      <vt:lpstr>Актуальность темы</vt:lpstr>
      <vt:lpstr>Цели и задачи</vt:lpstr>
      <vt:lpstr>Требования к системе</vt:lpstr>
      <vt:lpstr>Сравнение аналогов</vt:lpstr>
      <vt:lpstr>Технологии</vt:lpstr>
      <vt:lpstr>Архитектура системы</vt:lpstr>
      <vt:lpstr>Диаграмма классов</vt:lpstr>
      <vt:lpstr>Структура базы данных</vt:lpstr>
      <vt:lpstr>Сценарии использования</vt:lpstr>
      <vt:lpstr>Пример работы системы</vt:lpstr>
      <vt:lpstr>Результаты</vt:lpstr>
      <vt:lpstr>Перспективы развития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Роман Жуков</dc:creator>
  <cp:lastModifiedBy>Rafael</cp:lastModifiedBy>
  <cp:revision>20</cp:revision>
  <dcterms:created xsi:type="dcterms:W3CDTF">2025-04-17T10:00:13Z</dcterms:created>
  <dcterms:modified xsi:type="dcterms:W3CDTF">2026-05-07T19:37:48Z</dcterms:modified>
</cp:coreProperties>
</file>